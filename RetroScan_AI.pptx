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Cost (₹ Lakhs)</c:v>
                </c:pt>
              </c:strCache>
            </c:strRef>
          </c:tx>
          <c:spPr>
            <a:solidFill>
              <a:srgbClr val="00C85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0F4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C85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FD60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F1744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RetroScan AI
(Prototype)</c:v>
                  </c:pt>
                  <c:pt idx="1">
                    <c:v>Handheld
Device</c:v>
                  </c:pt>
                  <c:pt idx="2">
                    <c:v>Commercial
Vehicle System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0.35</c:v>
                </c:pt>
                <c:pt idx="1">
                  <c:v>8</c:v>
                </c:pt>
                <c:pt idx="2">
                  <c:v>50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0F4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2A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A305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Cost in ₹ Lakhs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2A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12240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9280" cy="5143500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365760"/>
            <a:ext cx="1920240" cy="292608"/>
          </a:xfrm>
          <a:prstGeom prst="roundRect">
            <a:avLst>
              <a:gd name="adj" fmla="val 46875"/>
            </a:avLst>
          </a:prstGeom>
          <a:solidFill>
            <a:srgbClr val="1A1208"/>
          </a:solidFill>
          <a:ln w="10160">
            <a:solidFill>
              <a:srgbClr val="FF6B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4747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8C3A"/>
                </a:solidFill>
              </a:rPr>
              <a:t>NHAI HACKATHON 2026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804672"/>
            <a:ext cx="5074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0F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RETROSCAN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411480" y="1691640"/>
            <a:ext cx="5074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6B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411480" y="269748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0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Road Sign Retroreflectivity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00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Powered by AI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37490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6B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97%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11480" y="422452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2A4"/>
                </a:solidFill>
              </a:rPr>
              <a:t>Cost Reduction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103120" y="37490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6B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₹35K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103120" y="422452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2A4"/>
                </a:solidFill>
              </a:rPr>
              <a:t>Prototype Cost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794760" y="37490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6B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24/7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794760" y="422452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2A4"/>
                </a:solidFill>
              </a:rPr>
              <a:t>All-Conditions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669280" y="0"/>
            <a:ext cx="3474720" cy="5143500"/>
          </a:xfrm>
          <a:prstGeom prst="rect">
            <a:avLst/>
          </a:prstGeom>
          <a:solidFill>
            <a:srgbClr val="1A3050"/>
          </a:solidFill>
          <a:ln/>
        </p:spPr>
      </p:sp>
      <p:sp>
        <p:nvSpPr>
          <p:cNvPr id="16" name="Shape 14"/>
          <p:cNvSpPr/>
          <p:nvPr/>
        </p:nvSpPr>
        <p:spPr>
          <a:xfrm>
            <a:off x="6492240" y="0"/>
            <a:ext cx="1828800" cy="5143500"/>
          </a:xfrm>
          <a:prstGeom prst="rect">
            <a:avLst/>
          </a:prstGeom>
          <a:solidFill>
            <a:srgbClr val="0D1E35"/>
          </a:solidFill>
          <a:ln/>
        </p:spPr>
      </p:sp>
      <p:sp>
        <p:nvSpPr>
          <p:cNvPr id="17" name="Shape 15"/>
          <p:cNvSpPr/>
          <p:nvPr/>
        </p:nvSpPr>
        <p:spPr>
          <a:xfrm>
            <a:off x="7315200" y="365760"/>
            <a:ext cx="201168" cy="411480"/>
          </a:xfrm>
          <a:prstGeom prst="rect">
            <a:avLst/>
          </a:prstGeom>
          <a:solidFill>
            <a:srgbClr val="1A305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0" y="1097280"/>
            <a:ext cx="201168" cy="411480"/>
          </a:xfrm>
          <a:prstGeom prst="rect">
            <a:avLst/>
          </a:prstGeom>
          <a:solidFill>
            <a:srgbClr val="1A305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0" y="1828800"/>
            <a:ext cx="201168" cy="411480"/>
          </a:xfrm>
          <a:prstGeom prst="rect">
            <a:avLst/>
          </a:prstGeom>
          <a:solidFill>
            <a:srgbClr val="1A305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0" y="2560320"/>
            <a:ext cx="201168" cy="411480"/>
          </a:xfrm>
          <a:prstGeom prst="rect">
            <a:avLst/>
          </a:prstGeom>
          <a:solidFill>
            <a:srgbClr val="1A305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0" y="3291840"/>
            <a:ext cx="201168" cy="411480"/>
          </a:xfrm>
          <a:prstGeom prst="rect">
            <a:avLst/>
          </a:prstGeom>
          <a:solidFill>
            <a:srgbClr val="1A305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15200" y="4023360"/>
            <a:ext cx="201168" cy="411480"/>
          </a:xfrm>
          <a:prstGeom prst="rect">
            <a:avLst/>
          </a:prstGeom>
          <a:solidFill>
            <a:srgbClr val="1A305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669280" y="2194560"/>
            <a:ext cx="3474720" cy="27432"/>
          </a:xfrm>
          <a:prstGeom prst="rect">
            <a:avLst/>
          </a:prstGeom>
          <a:solidFill>
            <a:srgbClr val="00C2E0"/>
          </a:solidFill>
          <a:ln w="12700">
            <a:solidFill>
              <a:srgbClr val="00C2E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498080" y="2103120"/>
            <a:ext cx="137160" cy="137160"/>
          </a:xfrm>
          <a:prstGeom prst="ellipse">
            <a:avLst/>
          </a:prstGeom>
          <a:solidFill>
            <a:srgbClr val="00C2E0"/>
          </a:solidFill>
          <a:ln/>
        </p:spPr>
      </p:sp>
      <p:sp>
        <p:nvSpPr>
          <p:cNvPr id="25" name="Shape 23"/>
          <p:cNvSpPr/>
          <p:nvPr/>
        </p:nvSpPr>
        <p:spPr>
          <a:xfrm>
            <a:off x="7786116" y="2103120"/>
            <a:ext cx="137160" cy="137160"/>
          </a:xfrm>
          <a:prstGeom prst="ellipse">
            <a:avLst/>
          </a:prstGeom>
          <a:solidFill>
            <a:srgbClr val="00C2E0"/>
          </a:solidFill>
          <a:ln/>
        </p:spPr>
      </p:sp>
      <p:sp>
        <p:nvSpPr>
          <p:cNvPr id="26" name="Shape 24"/>
          <p:cNvSpPr/>
          <p:nvPr/>
        </p:nvSpPr>
        <p:spPr>
          <a:xfrm>
            <a:off x="8074152" y="2103120"/>
            <a:ext cx="137160" cy="137160"/>
          </a:xfrm>
          <a:prstGeom prst="ellipse">
            <a:avLst/>
          </a:prstGeom>
          <a:solidFill>
            <a:srgbClr val="00C2E0"/>
          </a:solidFill>
          <a:ln/>
        </p:spPr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1097280"/>
            <a:ext cx="640080" cy="640080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5852160" y="181051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00C2E0"/>
                </a:solidFill>
              </a:rPr>
              <a:t>AI CAMERA</a:t>
            </a:r>
            <a:endParaRPr lang="en-US" sz="700" dirty="0"/>
          </a:p>
        </p:txBody>
      </p:sp>
      <p:pic>
        <p:nvPicPr>
          <p:cNvPr id="2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3200400"/>
            <a:ext cx="502920" cy="502920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7635240" y="374904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FF6B00"/>
                </a:solidFill>
              </a:rPr>
              <a:t>GPS TAGGED</a:t>
            </a:r>
            <a:endParaRPr lang="en-US" sz="700" dirty="0"/>
          </a:p>
        </p:txBody>
      </p:sp>
      <p:sp>
        <p:nvSpPr>
          <p:cNvPr id="31" name="Shape 2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2" name="Text 2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2A4"/>
                </a:solidFill>
              </a:rPr>
              <a:t>Presented to NHAI  |  RetroScan AI Team  |  2026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F1744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2743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1744"/>
                </a:solidFill>
              </a:rPr>
              <a:t>THE PROBLEM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548640"/>
            <a:ext cx="5943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0F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India's highways are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0F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flying blind at night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20040" y="16002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1,46,000 km national highway network has thousands of signs and lane markings with no continuous measurement system.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2331720"/>
            <a:ext cx="4114800" cy="1097280"/>
          </a:xfrm>
          <a:prstGeom prst="rect">
            <a:avLst/>
          </a:prstGeom>
          <a:solidFill>
            <a:srgbClr val="112240"/>
          </a:solidFill>
          <a:ln w="12700">
            <a:solidFill>
              <a:srgbClr val="FF17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" y="2624328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78408" y="247802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Dangerously Slow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78408" y="2770632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Handheld devices require staff to stand on active expressways — a serious safety hazard.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20040" y="3566160"/>
            <a:ext cx="4114800" cy="1097280"/>
          </a:xfrm>
          <a:prstGeom prst="rect">
            <a:avLst/>
          </a:prstGeom>
          <a:solidFill>
            <a:srgbClr val="112240"/>
          </a:solidFill>
          <a:ln w="12700">
            <a:solidFill>
              <a:srgbClr val="FFD6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" y="3858768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78408" y="37124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Impossibly Slow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978408" y="4005072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surveys cover just 1–2 km/day. 1,46,000 km would take decades to audit fully.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4709160" y="2331720"/>
            <a:ext cx="4114800" cy="1097280"/>
          </a:xfrm>
          <a:prstGeom prst="rect">
            <a:avLst/>
          </a:prstGeom>
          <a:solidFill>
            <a:srgbClr val="112240"/>
          </a:solidFill>
          <a:ln w="12700">
            <a:solidFill>
              <a:srgbClr val="FF6B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3752" y="2624328"/>
            <a:ext cx="384048" cy="38404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367528" y="247802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₹15–50 Lakh Cost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5367528" y="2770632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retroreflectometers are unaffordable for wide deployment across the network.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4709160" y="3566160"/>
            <a:ext cx="4114800" cy="1097280"/>
          </a:xfrm>
          <a:prstGeom prst="rect">
            <a:avLst/>
          </a:prstGeom>
          <a:solidFill>
            <a:srgbClr val="112240"/>
          </a:solidFill>
          <a:ln w="12700">
            <a:solidFill>
              <a:srgbClr val="00C2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3752" y="3858768"/>
            <a:ext cx="384048" cy="38404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367528" y="37124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Night / Wet Data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5367528" y="4005072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systems fail in rain and darkness — exactly when retroreflectivity matters most.</a:t>
            </a:r>
            <a:endParaRPr lang="en-US" sz="950" dirty="0"/>
          </a:p>
        </p:txBody>
      </p:sp>
      <p:sp>
        <p:nvSpPr>
          <p:cNvPr id="22" name="Shape 16"/>
          <p:cNvSpPr/>
          <p:nvPr/>
        </p:nvSpPr>
        <p:spPr>
          <a:xfrm>
            <a:off x="6035040" y="502920"/>
            <a:ext cx="2926080" cy="1783080"/>
          </a:xfrm>
          <a:prstGeom prst="rect">
            <a:avLst/>
          </a:prstGeom>
          <a:solidFill>
            <a:srgbClr val="1A0510"/>
          </a:solidFill>
          <a:ln w="19050">
            <a:solidFill>
              <a:srgbClr val="FF1744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6035040" y="64008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17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0.07%</a:t>
            </a:r>
            <a:endParaRPr lang="en-US" sz="5200" dirty="0"/>
          </a:p>
        </p:txBody>
      </p:sp>
      <p:sp>
        <p:nvSpPr>
          <p:cNvPr id="24" name="Text 18"/>
          <p:cNvSpPr/>
          <p:nvPr/>
        </p:nvSpPr>
        <p:spPr>
          <a:xfrm>
            <a:off x="6035040" y="1572768"/>
            <a:ext cx="2926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A4"/>
                </a:solidFill>
              </a:rPr>
              <a:t>of India's highway markings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92A4"/>
                </a:solidFill>
              </a:rPr>
              <a:t>actively monitored today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C2E0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2743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C2E0"/>
                </a:solidFill>
              </a:rPr>
              <a:t>THE SOLUTION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54864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0F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RetroScan AI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320040" y="1234440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6B00"/>
                </a:solidFill>
              </a:rPr>
              <a:t>Vehicle-mounted · AI-powered · GPS-tagged · Real-time · ₹35,000 prototype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160020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system that mounts on any NHAI patrol vehicle, captures retroreflectivity of road signs and pavement markings using computer vision and AI, and instantly classifies each reading against IRC 67/35 standards — all while driving at highway speed.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2487168"/>
            <a:ext cx="5029200" cy="685800"/>
          </a:xfrm>
          <a:prstGeom prst="rect">
            <a:avLst/>
          </a:prstGeom>
          <a:solidFill>
            <a:srgbClr val="112240"/>
          </a:solidFill>
          <a:ln w="19050">
            <a:solidFill>
              <a:srgbClr val="00C85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2487168"/>
            <a:ext cx="128016" cy="685800"/>
          </a:xfrm>
          <a:prstGeom prst="rect">
            <a:avLst/>
          </a:prstGeom>
          <a:solidFill>
            <a:srgbClr val="00C853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25511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97% Cheaper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94360" y="28346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</a:rPr>
              <a:t>vs. commercial devices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3310128"/>
            <a:ext cx="5029200" cy="685800"/>
          </a:xfrm>
          <a:prstGeom prst="rect">
            <a:avLst/>
          </a:prstGeom>
          <a:solidFill>
            <a:srgbClr val="112240"/>
          </a:solidFill>
          <a:ln w="19050">
            <a:solidFill>
              <a:srgbClr val="00C2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3310128"/>
            <a:ext cx="128016" cy="685800"/>
          </a:xfrm>
          <a:prstGeom prst="rect">
            <a:avLst/>
          </a:prstGeom>
          <a:solidFill>
            <a:srgbClr val="00C2E0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337413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Highway Speed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94360" y="3657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</a:rPr>
              <a:t>No lane closure needed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4133088"/>
            <a:ext cx="5029200" cy="685800"/>
          </a:xfrm>
          <a:prstGeom prst="rect">
            <a:avLst/>
          </a:prstGeom>
          <a:solidFill>
            <a:srgbClr val="112240"/>
          </a:solidFill>
          <a:ln w="19050">
            <a:solidFill>
              <a:srgbClr val="FF6B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4133088"/>
            <a:ext cx="128016" cy="685800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419709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IRC Compliant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94360" y="44805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</a:rPr>
              <a:t>Standards 67 &amp; 35 built-in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577840" y="1463040"/>
            <a:ext cx="3337560" cy="3383280"/>
          </a:xfrm>
          <a:prstGeom prst="rect">
            <a:avLst/>
          </a:prstGeom>
          <a:solidFill>
            <a:srgbClr val="11224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77840" y="1508760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8892A4"/>
                </a:solidFill>
              </a:rPr>
              <a:t>SYSTEM OVERVIEW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806440" y="1920240"/>
            <a:ext cx="2880360" cy="502920"/>
          </a:xfrm>
          <a:prstGeom prst="rect">
            <a:avLst/>
          </a:prstGeom>
          <a:solidFill>
            <a:srgbClr val="1A3050"/>
          </a:solidFill>
          <a:ln w="12700">
            <a:solidFill>
              <a:srgbClr val="00C2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52160" y="1938528"/>
            <a:ext cx="2788920" cy="45720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 Pulsed LED + Camera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178040" y="2423160"/>
            <a:ext cx="27432" cy="201168"/>
          </a:xfrm>
          <a:prstGeom prst="rect">
            <a:avLst/>
          </a:prstGeom>
          <a:solidFill>
            <a:srgbClr val="00C2E0"/>
          </a:solidFill>
          <a:ln/>
        </p:spPr>
      </p:sp>
      <p:sp>
        <p:nvSpPr>
          <p:cNvPr id="24" name="Shape 22"/>
          <p:cNvSpPr/>
          <p:nvPr/>
        </p:nvSpPr>
        <p:spPr>
          <a:xfrm>
            <a:off x="5806440" y="2624328"/>
            <a:ext cx="2880360" cy="502920"/>
          </a:xfrm>
          <a:prstGeom prst="rect">
            <a:avLst/>
          </a:prstGeom>
          <a:solidFill>
            <a:srgbClr val="1A305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52160" y="2642616"/>
            <a:ext cx="2788920" cy="45720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Edge AI (CNN Model)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178040" y="3127248"/>
            <a:ext cx="27432" cy="201168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27" name="Shape 25"/>
          <p:cNvSpPr/>
          <p:nvPr/>
        </p:nvSpPr>
        <p:spPr>
          <a:xfrm>
            <a:off x="5806440" y="3328416"/>
            <a:ext cx="2880360" cy="502920"/>
          </a:xfrm>
          <a:prstGeom prst="rect">
            <a:avLst/>
          </a:prstGeom>
          <a:solidFill>
            <a:srgbClr val="1A3050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52160" y="3346704"/>
            <a:ext cx="2788920" cy="45720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 GPS Tagging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178040" y="3831336"/>
            <a:ext cx="27432" cy="201168"/>
          </a:xfrm>
          <a:prstGeom prst="rect">
            <a:avLst/>
          </a:prstGeom>
          <a:solidFill>
            <a:srgbClr val="FFD600"/>
          </a:solidFill>
          <a:ln/>
        </p:spPr>
      </p:sp>
      <p:sp>
        <p:nvSpPr>
          <p:cNvPr id="30" name="Shape 28"/>
          <p:cNvSpPr/>
          <p:nvPr/>
        </p:nvSpPr>
        <p:spPr>
          <a:xfrm>
            <a:off x="5806440" y="4032504"/>
            <a:ext cx="2880360" cy="502920"/>
          </a:xfrm>
          <a:prstGeom prst="rect">
            <a:avLst/>
          </a:prstGeom>
          <a:solidFill>
            <a:srgbClr val="1A3050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52160" y="4050792"/>
            <a:ext cx="2788920" cy="45720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☁️  Cloud Dashboard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2743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6B00"/>
                </a:solidFill>
              </a:rPr>
              <a:t>TECHNOLOGY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5486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0F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5-Step Measurement Pipeline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20040" y="1298448"/>
            <a:ext cx="4206240" cy="1051560"/>
          </a:xfrm>
          <a:prstGeom prst="rect">
            <a:avLst/>
          </a:prstGeom>
          <a:solidFill>
            <a:srgbClr val="112240"/>
          </a:solidFill>
          <a:ln w="12700">
            <a:solidFill>
              <a:srgbClr val="FF6B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298448"/>
            <a:ext cx="502920" cy="10515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298448"/>
            <a:ext cx="502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6B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138988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Pulsed Illumination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1682496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50W COB LED fires precise bursts. Camera captures frame ON vs OFF — ambient light is subtracted.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" y="2487168"/>
            <a:ext cx="4206240" cy="1051560"/>
          </a:xfrm>
          <a:prstGeom prst="rect">
            <a:avLst/>
          </a:prstGeom>
          <a:solidFill>
            <a:srgbClr val="112240"/>
          </a:solidFill>
          <a:ln w="12700">
            <a:solidFill>
              <a:srgbClr val="00C2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2487168"/>
            <a:ext cx="502920" cy="10515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" y="2487168"/>
            <a:ext cx="502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C2E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257860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Capture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2871216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vision camera at IRC-standard 0.2° observation angle — every reading is geometrically comparable.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0040" y="3675888"/>
            <a:ext cx="4206240" cy="1051560"/>
          </a:xfrm>
          <a:prstGeom prst="rect">
            <a:avLst/>
          </a:prstGeom>
          <a:solidFill>
            <a:srgbClr val="112240"/>
          </a:solidFill>
          <a:ln w="12700">
            <a:solidFill>
              <a:srgbClr val="00C85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3675888"/>
            <a:ext cx="502920" cy="10515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7" name="Text 15"/>
          <p:cNvSpPr/>
          <p:nvPr/>
        </p:nvSpPr>
        <p:spPr>
          <a:xfrm>
            <a:off x="320040" y="3675888"/>
            <a:ext cx="502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C85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14400" y="376732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Regression Model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4400" y="4059936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takes image luminance + ambient light + speed → outputs mcd/m²/lux retroreflectivity value.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892040" y="1298448"/>
            <a:ext cx="4206240" cy="1051560"/>
          </a:xfrm>
          <a:prstGeom prst="rect">
            <a:avLst/>
          </a:prstGeom>
          <a:solidFill>
            <a:srgbClr val="112240"/>
          </a:solidFill>
          <a:ln w="12700">
            <a:solidFill>
              <a:srgbClr val="FFD6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92040" y="1298448"/>
            <a:ext cx="502920" cy="10515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2" name="Text 20"/>
          <p:cNvSpPr/>
          <p:nvPr/>
        </p:nvSpPr>
        <p:spPr>
          <a:xfrm>
            <a:off x="4892040" y="1298448"/>
            <a:ext cx="502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D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486400" y="138988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 Decision Engine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0" y="1682496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result against IRC 67 (signs) &amp; IRC 35 (markings). Classifies: PASS · WARN · FAIL instantly.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892040" y="2487168"/>
            <a:ext cx="4206240" cy="1051560"/>
          </a:xfrm>
          <a:prstGeom prst="rect">
            <a:avLst/>
          </a:prstGeom>
          <a:solidFill>
            <a:srgbClr val="112240"/>
          </a:solidFill>
          <a:ln w="12700">
            <a:solidFill>
              <a:srgbClr val="FF8C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92040" y="2487168"/>
            <a:ext cx="502920" cy="10515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7" name="Text 25"/>
          <p:cNvSpPr/>
          <p:nvPr/>
        </p:nvSpPr>
        <p:spPr>
          <a:xfrm>
            <a:off x="4892040" y="2487168"/>
            <a:ext cx="502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8C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486400" y="257860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Log &amp; Cloud Upload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486400" y="2871216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reading tagged to lat/long within 1m accuracy. Batched to cloud every 10 seconds via 4G.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462272" y="2258568"/>
            <a:ext cx="457200" cy="27432"/>
          </a:xfrm>
          <a:prstGeom prst="rect">
            <a:avLst/>
          </a:prstGeom>
          <a:solidFill>
            <a:srgbClr val="8892A4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C853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2743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C853"/>
                </a:solidFill>
              </a:rPr>
              <a:t>AI / ML CORE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5486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0F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CNN Regression Model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20040" y="123444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892A4"/>
                </a:solidFill>
              </a:rPr>
              <a:t>MODEL ARCHITECTURE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20040" y="1536192"/>
            <a:ext cx="2560320" cy="621792"/>
          </a:xfrm>
          <a:prstGeom prst="rect">
            <a:avLst/>
          </a:prstGeom>
          <a:solidFill>
            <a:srgbClr val="000000"/>
          </a:solidFill>
          <a:ln w="15240">
            <a:solidFill>
              <a:srgbClr val="00C2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58191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184708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+ Ambient Light + Speed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536192" y="2157984"/>
            <a:ext cx="36576" cy="182880"/>
          </a:xfrm>
          <a:prstGeom prst="rect">
            <a:avLst/>
          </a:prstGeom>
          <a:solidFill>
            <a:srgbClr val="00C2E0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2340864"/>
            <a:ext cx="2560320" cy="621792"/>
          </a:xfrm>
          <a:prstGeom prst="rect">
            <a:avLst/>
          </a:prstGeom>
          <a:solidFill>
            <a:srgbClr val="000000"/>
          </a:solidFill>
          <a:ln w="15240">
            <a:solidFill>
              <a:srgbClr val="FF6B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386584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 LAYERS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" y="265176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 (VGG-16 base)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536192" y="2962656"/>
            <a:ext cx="36576" cy="182880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14" name="Shape 12"/>
          <p:cNvSpPr/>
          <p:nvPr/>
        </p:nvSpPr>
        <p:spPr>
          <a:xfrm>
            <a:off x="320040" y="3145536"/>
            <a:ext cx="2560320" cy="621792"/>
          </a:xfrm>
          <a:prstGeom prst="rect">
            <a:avLst/>
          </a:prstGeom>
          <a:solidFill>
            <a:srgbClr val="000000"/>
          </a:solidFill>
          <a:ln w="15240">
            <a:solidFill>
              <a:srgbClr val="FFD6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3191256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LAYERS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11480" y="345643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head (256 → 64 → 1)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1536192" y="3767328"/>
            <a:ext cx="36576" cy="182880"/>
          </a:xfrm>
          <a:prstGeom prst="rect">
            <a:avLst/>
          </a:prstGeom>
          <a:solidFill>
            <a:srgbClr val="FFD600"/>
          </a:solidFill>
          <a:ln/>
        </p:spPr>
      </p:sp>
      <p:sp>
        <p:nvSpPr>
          <p:cNvPr id="18" name="Shape 16"/>
          <p:cNvSpPr/>
          <p:nvPr/>
        </p:nvSpPr>
        <p:spPr>
          <a:xfrm>
            <a:off x="320040" y="3950208"/>
            <a:ext cx="2560320" cy="621792"/>
          </a:xfrm>
          <a:prstGeom prst="rect">
            <a:avLst/>
          </a:prstGeom>
          <a:solidFill>
            <a:srgbClr val="000000"/>
          </a:solidFill>
          <a:ln w="15240">
            <a:solidFill>
              <a:srgbClr val="00C85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399592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11480" y="4261104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mcd/m²/lux + Condition class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200400" y="1234440"/>
            <a:ext cx="5669280" cy="3611880"/>
          </a:xfrm>
          <a:prstGeom prst="rect">
            <a:avLst/>
          </a:prstGeom>
          <a:solidFill>
            <a:srgbClr val="11224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29000" y="1353312"/>
            <a:ext cx="5212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892A4"/>
                </a:solidFill>
              </a:rPr>
              <a:t>TRAINING STRATEGY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429000" y="1792224"/>
            <a:ext cx="164592" cy="164592"/>
          </a:xfrm>
          <a:prstGeom prst="ellipse">
            <a:avLst/>
          </a:prstGeom>
          <a:solidFill>
            <a:srgbClr val="00C853"/>
          </a:solidFill>
          <a:ln/>
        </p:spPr>
      </p:sp>
      <p:sp>
        <p:nvSpPr>
          <p:cNvPr id="24" name="Text 22"/>
          <p:cNvSpPr/>
          <p:nvPr/>
        </p:nvSpPr>
        <p:spPr>
          <a:xfrm>
            <a:off x="3703320" y="171907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4FF"/>
                </a:solidFill>
              </a:rPr>
              <a:t>Dataset: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92040" y="171907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</a:rPr>
              <a:t>Calibrated against IRC reference handheld device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429000" y="2295144"/>
            <a:ext cx="164592" cy="164592"/>
          </a:xfrm>
          <a:prstGeom prst="ellipse">
            <a:avLst/>
          </a:prstGeom>
          <a:solidFill>
            <a:srgbClr val="00C853"/>
          </a:solidFill>
          <a:ln/>
        </p:spPr>
      </p:sp>
      <p:sp>
        <p:nvSpPr>
          <p:cNvPr id="27" name="Text 25"/>
          <p:cNvSpPr/>
          <p:nvPr/>
        </p:nvSpPr>
        <p:spPr>
          <a:xfrm>
            <a:off x="3703320" y="222199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4FF"/>
                </a:solidFill>
              </a:rPr>
              <a:t>Conditions: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92040" y="222199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</a:rPr>
              <a:t>Dry · Wet · Night · Foggy — 4 separate condition heads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429000" y="2798064"/>
            <a:ext cx="164592" cy="164592"/>
          </a:xfrm>
          <a:prstGeom prst="ellipse">
            <a:avLst/>
          </a:prstGeom>
          <a:solidFill>
            <a:srgbClr val="00C853"/>
          </a:solidFill>
          <a:ln/>
        </p:spPr>
      </p:sp>
      <p:sp>
        <p:nvSpPr>
          <p:cNvPr id="30" name="Text 28"/>
          <p:cNvSpPr/>
          <p:nvPr/>
        </p:nvSpPr>
        <p:spPr>
          <a:xfrm>
            <a:off x="3703320" y="272491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4FF"/>
                </a:solidFill>
              </a:rPr>
              <a:t>Augmentation: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92040" y="272491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</a:rPr>
              <a:t>Speed blur, glare, partial occlusion simulation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429000" y="3300984"/>
            <a:ext cx="164592" cy="164592"/>
          </a:xfrm>
          <a:prstGeom prst="ellipse">
            <a:avLst/>
          </a:prstGeom>
          <a:solidFill>
            <a:srgbClr val="00C853"/>
          </a:solidFill>
          <a:ln/>
        </p:spPr>
      </p:sp>
      <p:sp>
        <p:nvSpPr>
          <p:cNvPr id="33" name="Text 31"/>
          <p:cNvSpPr/>
          <p:nvPr/>
        </p:nvSpPr>
        <p:spPr>
          <a:xfrm>
            <a:off x="3703320" y="322783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4FF"/>
                </a:solidFill>
              </a:rPr>
              <a:t>Validation: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892040" y="322783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</a:rPr>
              <a:t>K-fold cross-validation, &lt;5% MAE target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429000" y="3730752"/>
            <a:ext cx="5212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892A4"/>
                </a:solidFill>
              </a:rPr>
              <a:t>IRC THRESHOLD INTEGRATION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29000" y="3931920"/>
          <a:ext cx="5349240" cy="960120"/>
        </p:xfrm>
        <a:graphic>
          <a:graphicData uri="http://schemas.openxmlformats.org/drawingml/2006/table">
            <a:tbl>
              <a:tblPr/>
              <a:tblGrid>
                <a:gridCol w="1371600"/>
                <a:gridCol w="822960"/>
                <a:gridCol w="1691640"/>
                <a:gridCol w="1463040"/>
              </a:tblGrid>
              <a:tr h="2400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Marking Type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IRC Std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 RL (mcd/m²/lux)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0"/>
                    </a:solidFill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892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Road Sign (Type I)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892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IRC 67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892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C8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🟢 PASS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892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Lane Marking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892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IRC 35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892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D6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WARN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892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Stop Line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892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IRC 35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892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1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🔴 FAIL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FD600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2743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D600"/>
                </a:solidFill>
              </a:rPr>
              <a:t>COST ADVANTAGE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5486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0F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₹35,000  vs  ₹50,00,000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320040" y="1280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892A4"/>
                </a:solidFill>
              </a:rPr>
              <a:t>RetroScan AI is 99.93% cheaper than leading commercial retroreflectometers.</a:t>
            </a:r>
            <a:endParaRPr lang="en-US" sz="12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20040" y="1691640"/>
          <a:ext cx="5029200" cy="3154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5577840" y="1691640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892A4"/>
                </a:solidFill>
              </a:rPr>
              <a:t>PROTOTYPE COMPONENTS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77840" y="1993392"/>
          <a:ext cx="3337560" cy="2852928"/>
        </p:xfrm>
        <a:graphic>
          <a:graphicData uri="http://schemas.openxmlformats.org/drawingml/2006/table">
            <a:tbl>
              <a:tblPr/>
              <a:tblGrid>
                <a:gridCol w="2286000"/>
                <a:gridCol w="1051560"/>
              </a:tblGrid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8892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Raspberry Pi 5 / Jetson Nano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8892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₹8,000–15,000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8892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Machine Vision Camera (12MP)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8892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₹5,000–8,000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8892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50W Pulsed LED Array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8892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₹2,500–4,000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8892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GPS + IMU Module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8892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₹1,500–2,000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8892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Ambient Light Sensor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8892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₹300–500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8892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7" Dashboard Display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8892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₹3,000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8892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Mounting Frame + Misc.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8892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₹2,000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0F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0C8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~₹35,000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C2E0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2743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C2E0"/>
                </a:solidFill>
              </a:rPr>
              <a:t>LIVE DASHBOARD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5486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0F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Real-Time Command Centre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20040" y="1298448"/>
            <a:ext cx="8503920" cy="3547872"/>
          </a:xfrm>
          <a:prstGeom prst="rect">
            <a:avLst/>
          </a:prstGeom>
          <a:solidFill>
            <a:srgbClr val="070E1A"/>
          </a:solidFill>
          <a:ln w="19050">
            <a:solidFill>
              <a:srgbClr val="00C2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298448"/>
            <a:ext cx="8503920" cy="347472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298448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C2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⚡ RetroScan AI — Live Monitor  |  NH-48 KM 142.3  |  23 Apr 2026  11:47:32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57200" y="1755648"/>
            <a:ext cx="1965960" cy="1170432"/>
          </a:xfrm>
          <a:prstGeom prst="rect">
            <a:avLst/>
          </a:prstGeom>
          <a:solidFill>
            <a:srgbClr val="112240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810512"/>
            <a:ext cx="1783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8892A4"/>
                </a:solidFill>
              </a:rPr>
              <a:t>RL Reading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48640" y="2029968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C85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87.4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48640" y="2487168"/>
            <a:ext cx="1783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2A4"/>
                </a:solidFill>
              </a:rPr>
              <a:t>mcd/m²/lux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548640" y="2743200"/>
            <a:ext cx="685800" cy="164592"/>
          </a:xfrm>
          <a:prstGeom prst="roundRect">
            <a:avLst>
              <a:gd name="adj" fmla="val 27778"/>
            </a:avLst>
          </a:prstGeom>
          <a:solidFill>
            <a:srgbClr val="000000"/>
          </a:solidFill>
          <a:ln w="6350">
            <a:solidFill>
              <a:srgbClr val="00C85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734056"/>
            <a:ext cx="685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C853"/>
                </a:solidFill>
              </a:rPr>
              <a:t>PASS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2542032" y="1755648"/>
            <a:ext cx="1965960" cy="1170432"/>
          </a:xfrm>
          <a:prstGeom prst="rect">
            <a:avLst/>
          </a:prstGeom>
          <a:solidFill>
            <a:srgbClr val="112240"/>
          </a:solidFill>
          <a:ln w="12700">
            <a:solidFill>
              <a:srgbClr val="00C2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33472" y="1810512"/>
            <a:ext cx="1783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8892A4"/>
                </a:solidFill>
              </a:rPr>
              <a:t>Sign Detected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2633472" y="2029968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Limit 60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633472" y="2487168"/>
            <a:ext cx="1783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2A4"/>
                </a:solidFill>
              </a:rPr>
              <a:t>IRC 67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2633472" y="2743200"/>
            <a:ext cx="685800" cy="164592"/>
          </a:xfrm>
          <a:prstGeom prst="roundRect">
            <a:avLst>
              <a:gd name="adj" fmla="val 27778"/>
            </a:avLst>
          </a:prstGeom>
          <a:solidFill>
            <a:srgbClr val="000000"/>
          </a:solidFill>
          <a:ln w="6350">
            <a:solidFill>
              <a:srgbClr val="00C2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33472" y="2734056"/>
            <a:ext cx="685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C2E0"/>
                </a:solidFill>
              </a:rPr>
              <a:t>●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4626864" y="1755648"/>
            <a:ext cx="1965960" cy="1170432"/>
          </a:xfrm>
          <a:prstGeom prst="rect">
            <a:avLst/>
          </a:prstGeom>
          <a:solidFill>
            <a:srgbClr val="112240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18304" y="1810512"/>
            <a:ext cx="1783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8892A4"/>
                </a:solidFill>
              </a:rPr>
              <a:t>GPS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4718304" y="2029968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D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12.9716°N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718304" y="2487168"/>
            <a:ext cx="1783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2A4"/>
                </a:solidFill>
              </a:rPr>
              <a:t>80.2437°E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4718304" y="2743200"/>
            <a:ext cx="685800" cy="164592"/>
          </a:xfrm>
          <a:prstGeom prst="roundRect">
            <a:avLst>
              <a:gd name="adj" fmla="val 27778"/>
            </a:avLst>
          </a:prstGeom>
          <a:solidFill>
            <a:srgbClr val="000000"/>
          </a:solidFill>
          <a:ln w="6350">
            <a:solidFill>
              <a:srgbClr val="FFD6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18304" y="2734056"/>
            <a:ext cx="685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D600"/>
                </a:solidFill>
              </a:rPr>
              <a:t>LOCK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6711696" y="1755648"/>
            <a:ext cx="1965960" cy="1170432"/>
          </a:xfrm>
          <a:prstGeom prst="rect">
            <a:avLst/>
          </a:prstGeom>
          <a:solidFill>
            <a:srgbClr val="112240"/>
          </a:solidFill>
          <a:ln w="12700">
            <a:solidFill>
              <a:srgbClr val="FF17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03136" y="1810512"/>
            <a:ext cx="1783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8892A4"/>
                </a:solidFill>
              </a:rPr>
              <a:t>Alerts Today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6803136" y="2029968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17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6803136" y="2487168"/>
            <a:ext cx="1783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2A4"/>
                </a:solidFill>
              </a:rPr>
              <a:t>FAIL zones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6803136" y="2743200"/>
            <a:ext cx="685800" cy="164592"/>
          </a:xfrm>
          <a:prstGeom prst="roundRect">
            <a:avLst>
              <a:gd name="adj" fmla="val 27778"/>
            </a:avLst>
          </a:prstGeom>
          <a:solidFill>
            <a:srgbClr val="000000"/>
          </a:solidFill>
          <a:ln w="6350">
            <a:solidFill>
              <a:srgbClr val="FF17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03136" y="2734056"/>
            <a:ext cx="685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1744"/>
                </a:solidFill>
              </a:rPr>
              <a:t>⚠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457200" y="306324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8892A4"/>
                </a:solidFill>
              </a:rPr>
              <a:t>RECENT READINGS</a:t>
            </a:r>
            <a:endParaRPr lang="en-US" sz="7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273552"/>
          <a:ext cx="5029200" cy="1481328"/>
        </p:xfrm>
        <a:graphic>
          <a:graphicData uri="http://schemas.openxmlformats.org/drawingml/2006/table">
            <a:tbl>
              <a:tblPr/>
              <a:tblGrid>
                <a:gridCol w="822960"/>
                <a:gridCol w="1463040"/>
                <a:gridCol w="1097280"/>
                <a:gridCol w="1645920"/>
              </a:tblGrid>
              <a:tr h="2962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0F4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KM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0F4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Sign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0F4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RL Value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0F4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Status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0"/>
                    </a:solidFill>
                  </a:tcPr>
                </a:tc>
              </a:tr>
              <a:tr h="2962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8892A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142.1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E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8892A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Speed 60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E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8892A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91.2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E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C85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● PASS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E1A"/>
                    </a:solidFill>
                  </a:tcPr>
                </a:tc>
              </a:tr>
              <a:tr h="2962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8892A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142.2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E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8892A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Turn Ahead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E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8892A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68.4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E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FD6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▲ WARN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E1A"/>
                    </a:solidFill>
                  </a:tcPr>
                </a:tc>
              </a:tr>
              <a:tr h="2962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8892A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142.3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E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8892A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Lane Mark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E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8892A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87.4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E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C85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● PASS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E1A"/>
                    </a:solidFill>
                  </a:tcPr>
                </a:tc>
              </a:tr>
              <a:tr h="2962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8892A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142.4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E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8892A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Stop Line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E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8892A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42.1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E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F174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✖ FAIL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E1A"/>
                    </a:solidFill>
                  </a:tcPr>
                </a:tc>
              </a:tr>
            </a:tbl>
          </a:graphicData>
        </a:graphic>
      </p:graphicFrame>
      <p:sp>
        <p:nvSpPr>
          <p:cNvPr id="34" name="Shape 31"/>
          <p:cNvSpPr/>
          <p:nvPr/>
        </p:nvSpPr>
        <p:spPr>
          <a:xfrm>
            <a:off x="5715000" y="3063240"/>
            <a:ext cx="2926080" cy="1691640"/>
          </a:xfrm>
          <a:prstGeom prst="rect">
            <a:avLst/>
          </a:prstGeom>
          <a:solidFill>
            <a:srgbClr val="0D1E35"/>
          </a:solidFill>
          <a:ln w="6350">
            <a:solidFill>
              <a:srgbClr val="1A3050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715000" y="3090672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spc="200" kern="0" dirty="0">
                <a:solidFill>
                  <a:srgbClr val="8892A4"/>
                </a:solidFill>
              </a:rPr>
              <a:t>GPS MAP VIEW</a:t>
            </a:r>
            <a:endParaRPr lang="en-US" sz="700" dirty="0"/>
          </a:p>
        </p:txBody>
      </p:sp>
      <p:sp>
        <p:nvSpPr>
          <p:cNvPr id="36" name="Shape 33"/>
          <p:cNvSpPr/>
          <p:nvPr/>
        </p:nvSpPr>
        <p:spPr>
          <a:xfrm>
            <a:off x="6949440" y="3291840"/>
            <a:ext cx="164592" cy="1371600"/>
          </a:xfrm>
          <a:prstGeom prst="rect">
            <a:avLst/>
          </a:prstGeom>
          <a:solidFill>
            <a:srgbClr val="1A3050"/>
          </a:solidFill>
          <a:ln/>
        </p:spPr>
      </p:sp>
      <p:sp>
        <p:nvSpPr>
          <p:cNvPr id="37" name="Shape 34"/>
          <p:cNvSpPr/>
          <p:nvPr/>
        </p:nvSpPr>
        <p:spPr>
          <a:xfrm>
            <a:off x="6976872" y="3429000"/>
            <a:ext cx="109728" cy="109728"/>
          </a:xfrm>
          <a:prstGeom prst="ellipse">
            <a:avLst/>
          </a:prstGeom>
          <a:solidFill>
            <a:srgbClr val="00C853"/>
          </a:solidFill>
          <a:ln/>
        </p:spPr>
      </p:sp>
      <p:sp>
        <p:nvSpPr>
          <p:cNvPr id="38" name="Shape 35"/>
          <p:cNvSpPr/>
          <p:nvPr/>
        </p:nvSpPr>
        <p:spPr>
          <a:xfrm>
            <a:off x="6976872" y="3703320"/>
            <a:ext cx="109728" cy="109728"/>
          </a:xfrm>
          <a:prstGeom prst="ellipse">
            <a:avLst/>
          </a:prstGeom>
          <a:solidFill>
            <a:srgbClr val="00C853"/>
          </a:solidFill>
          <a:ln/>
        </p:spPr>
      </p:sp>
      <p:sp>
        <p:nvSpPr>
          <p:cNvPr id="39" name="Shape 36"/>
          <p:cNvSpPr/>
          <p:nvPr/>
        </p:nvSpPr>
        <p:spPr>
          <a:xfrm>
            <a:off x="6976872" y="4069080"/>
            <a:ext cx="109728" cy="109728"/>
          </a:xfrm>
          <a:prstGeom prst="ellipse">
            <a:avLst/>
          </a:prstGeom>
          <a:solidFill>
            <a:srgbClr val="00C853"/>
          </a:solidFill>
          <a:ln/>
        </p:spPr>
      </p:sp>
      <p:sp>
        <p:nvSpPr>
          <p:cNvPr id="40" name="Shape 37"/>
          <p:cNvSpPr/>
          <p:nvPr/>
        </p:nvSpPr>
        <p:spPr>
          <a:xfrm>
            <a:off x="6976872" y="4297680"/>
            <a:ext cx="109728" cy="109728"/>
          </a:xfrm>
          <a:prstGeom prst="ellipse">
            <a:avLst/>
          </a:prstGeom>
          <a:solidFill>
            <a:srgbClr val="FFD600"/>
          </a:solidFill>
          <a:ln/>
        </p:spPr>
      </p:sp>
      <p:sp>
        <p:nvSpPr>
          <p:cNvPr id="41" name="Shape 38"/>
          <p:cNvSpPr/>
          <p:nvPr/>
        </p:nvSpPr>
        <p:spPr>
          <a:xfrm>
            <a:off x="6976872" y="4526280"/>
            <a:ext cx="109728" cy="109728"/>
          </a:xfrm>
          <a:prstGeom prst="ellipse">
            <a:avLst/>
          </a:prstGeom>
          <a:solidFill>
            <a:srgbClr val="FF1744"/>
          </a:solidFill>
          <a:ln/>
        </p:spPr>
      </p:sp>
      <p:sp>
        <p:nvSpPr>
          <p:cNvPr id="42" name="Text 39"/>
          <p:cNvSpPr/>
          <p:nvPr/>
        </p:nvSpPr>
        <p:spPr>
          <a:xfrm>
            <a:off x="5715000" y="4617720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8892A4"/>
                </a:solidFill>
              </a:rPr>
              <a:t>● PASS  ● WARN  ● FAIL</a:t>
            </a:r>
            <a:endParaRPr lang="en-US" sz="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2743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6B00"/>
                </a:solidFill>
              </a:rPr>
              <a:t>SCALABILITY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548640"/>
            <a:ext cx="6400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0F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From 1 Vehicle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0F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 1,46,000 km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20040" y="1755648"/>
            <a:ext cx="4206240" cy="1353312"/>
          </a:xfrm>
          <a:prstGeom prst="rect">
            <a:avLst/>
          </a:prstGeom>
          <a:solidFill>
            <a:srgbClr val="112240"/>
          </a:solidFill>
          <a:ln w="15240">
            <a:solidFill>
              <a:srgbClr val="00C2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755648"/>
            <a:ext cx="4206240" cy="32918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7" name="Text 5"/>
          <p:cNvSpPr/>
          <p:nvPr/>
        </p:nvSpPr>
        <p:spPr>
          <a:xfrm>
            <a:off x="429768" y="179222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606040" y="1810512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A4"/>
                </a:solidFill>
              </a:rPr>
              <a:t>Months 1–3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2212848"/>
            <a:ext cx="91440" cy="91440"/>
          </a:xfrm>
          <a:prstGeom prst="ellipse">
            <a:avLst/>
          </a:prstGeom>
          <a:solidFill>
            <a:srgbClr val="00C2E0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15798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4"/>
                </a:solidFill>
              </a:rPr>
              <a:t>1 test vehicle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2432304"/>
            <a:ext cx="91440" cy="91440"/>
          </a:xfrm>
          <a:prstGeom prst="ellipse">
            <a:avLst/>
          </a:prstGeom>
          <a:solidFill>
            <a:srgbClr val="00C2E0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37744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4"/>
                </a:solidFill>
              </a:rPr>
              <a:t>100 km trial on NH-48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2651760"/>
            <a:ext cx="91440" cy="91440"/>
          </a:xfrm>
          <a:prstGeom prst="ellipse">
            <a:avLst/>
          </a:prstGeom>
          <a:solidFill>
            <a:srgbClr val="00C2E0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59689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4"/>
                </a:solidFill>
              </a:rPr>
              <a:t>Calibration vs IRC reference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2871216"/>
            <a:ext cx="91440" cy="91440"/>
          </a:xfrm>
          <a:prstGeom prst="ellipse">
            <a:avLst/>
          </a:prstGeom>
          <a:solidFill>
            <a:srgbClr val="00C2E0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81635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4"/>
                </a:solidFill>
              </a:rPr>
              <a:t>Model accuracy validation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727448" y="1755648"/>
            <a:ext cx="4206240" cy="1353312"/>
          </a:xfrm>
          <a:prstGeom prst="rect">
            <a:avLst/>
          </a:prstGeom>
          <a:solidFill>
            <a:srgbClr val="112240"/>
          </a:solidFill>
          <a:ln w="15240">
            <a:solidFill>
              <a:srgbClr val="00C85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27448" y="1755648"/>
            <a:ext cx="4206240" cy="32918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9" name="Text 17"/>
          <p:cNvSpPr/>
          <p:nvPr/>
        </p:nvSpPr>
        <p:spPr>
          <a:xfrm>
            <a:off x="4837176" y="179222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013448" y="1810512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A4"/>
                </a:solidFill>
              </a:rPr>
              <a:t>Months 4–9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864608" y="2212848"/>
            <a:ext cx="91440" cy="91440"/>
          </a:xfrm>
          <a:prstGeom prst="ellipse">
            <a:avLst/>
          </a:prstGeom>
          <a:solidFill>
            <a:srgbClr val="00C853"/>
          </a:solidFill>
          <a:ln/>
        </p:spPr>
      </p:sp>
      <p:sp>
        <p:nvSpPr>
          <p:cNvPr id="22" name="Text 20"/>
          <p:cNvSpPr/>
          <p:nvPr/>
        </p:nvSpPr>
        <p:spPr>
          <a:xfrm>
            <a:off x="5047488" y="215798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4"/>
                </a:solidFill>
              </a:rPr>
              <a:t>10 patrol vehicles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864608" y="2432304"/>
            <a:ext cx="91440" cy="91440"/>
          </a:xfrm>
          <a:prstGeom prst="ellipse">
            <a:avLst/>
          </a:prstGeom>
          <a:solidFill>
            <a:srgbClr val="00C853"/>
          </a:solidFill>
          <a:ln/>
        </p:spPr>
      </p:sp>
      <p:sp>
        <p:nvSpPr>
          <p:cNvPr id="24" name="Text 22"/>
          <p:cNvSpPr/>
          <p:nvPr/>
        </p:nvSpPr>
        <p:spPr>
          <a:xfrm>
            <a:off x="5047488" y="237744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4"/>
                </a:solidFill>
              </a:rPr>
              <a:t>2 full NHAI corridors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864608" y="2651760"/>
            <a:ext cx="91440" cy="91440"/>
          </a:xfrm>
          <a:prstGeom prst="ellipse">
            <a:avLst/>
          </a:prstGeom>
          <a:solidFill>
            <a:srgbClr val="00C853"/>
          </a:solidFill>
          <a:ln/>
        </p:spPr>
      </p:sp>
      <p:sp>
        <p:nvSpPr>
          <p:cNvPr id="26" name="Text 24"/>
          <p:cNvSpPr/>
          <p:nvPr/>
        </p:nvSpPr>
        <p:spPr>
          <a:xfrm>
            <a:off x="5047488" y="259689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4"/>
                </a:solidFill>
              </a:rPr>
              <a:t>Cloud dashboard live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864608" y="2871216"/>
            <a:ext cx="91440" cy="91440"/>
          </a:xfrm>
          <a:prstGeom prst="ellipse">
            <a:avLst/>
          </a:prstGeom>
          <a:solidFill>
            <a:srgbClr val="00C853"/>
          </a:solidFill>
          <a:ln/>
        </p:spPr>
      </p:sp>
      <p:sp>
        <p:nvSpPr>
          <p:cNvPr id="28" name="Text 26"/>
          <p:cNvSpPr/>
          <p:nvPr/>
        </p:nvSpPr>
        <p:spPr>
          <a:xfrm>
            <a:off x="5047488" y="281635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4"/>
                </a:solidFill>
              </a:rPr>
              <a:t>First maintenance work orders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20040" y="3264408"/>
            <a:ext cx="4206240" cy="1353312"/>
          </a:xfrm>
          <a:prstGeom prst="rect">
            <a:avLst/>
          </a:prstGeom>
          <a:solidFill>
            <a:srgbClr val="112240"/>
          </a:solidFill>
          <a:ln w="15240">
            <a:solidFill>
              <a:srgbClr val="FF6B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0040" y="3264408"/>
            <a:ext cx="4206240" cy="32918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1" name="Text 29"/>
          <p:cNvSpPr/>
          <p:nvPr/>
        </p:nvSpPr>
        <p:spPr>
          <a:xfrm>
            <a:off x="429768" y="330098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606040" y="3319272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A4"/>
                </a:solidFill>
              </a:rPr>
              <a:t>Months 10–18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57200" y="3721608"/>
            <a:ext cx="91440" cy="91440"/>
          </a:xfrm>
          <a:prstGeom prst="ellipse">
            <a:avLst/>
          </a:prstGeom>
          <a:solidFill>
            <a:srgbClr val="FF6B00"/>
          </a:solidFill>
          <a:ln/>
        </p:spPr>
      </p:sp>
      <p:sp>
        <p:nvSpPr>
          <p:cNvPr id="34" name="Text 32"/>
          <p:cNvSpPr/>
          <p:nvPr/>
        </p:nvSpPr>
        <p:spPr>
          <a:xfrm>
            <a:off x="640080" y="366674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4"/>
                </a:solidFill>
              </a:rPr>
              <a:t>100+ vehicles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57200" y="3941064"/>
            <a:ext cx="91440" cy="91440"/>
          </a:xfrm>
          <a:prstGeom prst="ellipse">
            <a:avLst/>
          </a:prstGeom>
          <a:solidFill>
            <a:srgbClr val="FF6B00"/>
          </a:solidFill>
          <a:ln/>
        </p:spPr>
      </p:sp>
      <p:sp>
        <p:nvSpPr>
          <p:cNvPr id="36" name="Text 34"/>
          <p:cNvSpPr/>
          <p:nvPr/>
        </p:nvSpPr>
        <p:spPr>
          <a:xfrm>
            <a:off x="640080" y="388620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4"/>
                </a:solidFill>
              </a:rPr>
              <a:t>5 NHAI regions covered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57200" y="4160520"/>
            <a:ext cx="91440" cy="91440"/>
          </a:xfrm>
          <a:prstGeom prst="ellipse">
            <a:avLst/>
          </a:prstGeom>
          <a:solidFill>
            <a:srgbClr val="FF6B00"/>
          </a:solidFill>
          <a:ln/>
        </p:spPr>
      </p:sp>
      <p:sp>
        <p:nvSpPr>
          <p:cNvPr id="38" name="Text 36"/>
          <p:cNvSpPr/>
          <p:nvPr/>
        </p:nvSpPr>
        <p:spPr>
          <a:xfrm>
            <a:off x="640080" y="410565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4"/>
                </a:solidFill>
              </a:rPr>
              <a:t>Drone units for gantry signs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57200" y="4379976"/>
            <a:ext cx="91440" cy="91440"/>
          </a:xfrm>
          <a:prstGeom prst="ellipse">
            <a:avLst/>
          </a:prstGeom>
          <a:solidFill>
            <a:srgbClr val="FF6B00"/>
          </a:solidFill>
          <a:ln/>
        </p:spPr>
      </p:sp>
      <p:sp>
        <p:nvSpPr>
          <p:cNvPr id="40" name="Text 38"/>
          <p:cNvSpPr/>
          <p:nvPr/>
        </p:nvSpPr>
        <p:spPr>
          <a:xfrm>
            <a:off x="640080" y="432511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4"/>
                </a:solidFill>
              </a:rPr>
              <a:t>Predictive failure module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727448" y="3264408"/>
            <a:ext cx="4206240" cy="1353312"/>
          </a:xfrm>
          <a:prstGeom prst="rect">
            <a:avLst/>
          </a:prstGeom>
          <a:solidFill>
            <a:srgbClr val="112240"/>
          </a:solidFill>
          <a:ln w="15240">
            <a:solidFill>
              <a:srgbClr val="FFD6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727448" y="3264408"/>
            <a:ext cx="4206240" cy="32918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3" name="Text 41"/>
          <p:cNvSpPr/>
          <p:nvPr/>
        </p:nvSpPr>
        <p:spPr>
          <a:xfrm>
            <a:off x="4837176" y="330098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013448" y="3319272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A4"/>
                </a:solidFill>
              </a:rPr>
              <a:t>Year 2+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864608" y="3721608"/>
            <a:ext cx="91440" cy="91440"/>
          </a:xfrm>
          <a:prstGeom prst="ellipse">
            <a:avLst/>
          </a:prstGeom>
          <a:solidFill>
            <a:srgbClr val="FFD600"/>
          </a:solidFill>
          <a:ln/>
        </p:spPr>
      </p:sp>
      <p:sp>
        <p:nvSpPr>
          <p:cNvPr id="46" name="Text 44"/>
          <p:cNvSpPr/>
          <p:nvPr/>
        </p:nvSpPr>
        <p:spPr>
          <a:xfrm>
            <a:off x="5047488" y="366674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4"/>
                </a:solidFill>
              </a:rPr>
              <a:t>Full national fleet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864608" y="3941064"/>
            <a:ext cx="91440" cy="91440"/>
          </a:xfrm>
          <a:prstGeom prst="ellipse">
            <a:avLst/>
          </a:prstGeom>
          <a:solidFill>
            <a:srgbClr val="FFD600"/>
          </a:solidFill>
          <a:ln/>
        </p:spPr>
      </p:sp>
      <p:sp>
        <p:nvSpPr>
          <p:cNvPr id="48" name="Text 46"/>
          <p:cNvSpPr/>
          <p:nvPr/>
        </p:nvSpPr>
        <p:spPr>
          <a:xfrm>
            <a:off x="5047488" y="388620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4"/>
                </a:solidFill>
              </a:rPr>
              <a:t>1,46,000 km coverage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864608" y="4160520"/>
            <a:ext cx="91440" cy="91440"/>
          </a:xfrm>
          <a:prstGeom prst="ellipse">
            <a:avLst/>
          </a:prstGeom>
          <a:solidFill>
            <a:srgbClr val="FFD600"/>
          </a:solidFill>
          <a:ln/>
        </p:spPr>
      </p:sp>
      <p:sp>
        <p:nvSpPr>
          <p:cNvPr id="50" name="Text 48"/>
          <p:cNvSpPr/>
          <p:nvPr/>
        </p:nvSpPr>
        <p:spPr>
          <a:xfrm>
            <a:off x="5047488" y="410565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4"/>
                </a:solidFill>
              </a:rPr>
              <a:t>ITMS integration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864608" y="4379976"/>
            <a:ext cx="91440" cy="91440"/>
          </a:xfrm>
          <a:prstGeom prst="ellipse">
            <a:avLst/>
          </a:prstGeom>
          <a:solidFill>
            <a:srgbClr val="FFD600"/>
          </a:solidFill>
          <a:ln/>
        </p:spPr>
      </p:sp>
      <p:sp>
        <p:nvSpPr>
          <p:cNvPr id="52" name="Text 50"/>
          <p:cNvSpPr/>
          <p:nvPr/>
        </p:nvSpPr>
        <p:spPr>
          <a:xfrm>
            <a:off x="5047488" y="432511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4"/>
                </a:solidFill>
              </a:rPr>
              <a:t>₹200 Cr+ annual savings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C853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2743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C853"/>
                </a:solidFill>
              </a:rPr>
              <a:t>EVALUATION FIT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54864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0F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Scores Maximum Marks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0F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on Every Criterion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20040" y="1572768"/>
            <a:ext cx="8503920" cy="749808"/>
          </a:xfrm>
          <a:prstGeom prst="rect">
            <a:avLst/>
          </a:prstGeom>
          <a:solidFill>
            <a:srgbClr val="112240"/>
          </a:solidFill>
          <a:ln w="10160">
            <a:solidFill>
              <a:srgbClr val="FF6B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572768"/>
            <a:ext cx="1005840" cy="74980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572768"/>
            <a:ext cx="1005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6B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29/30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63040" y="16459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463040" y="1920240"/>
            <a:ext cx="7223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 ambient-subtraction + CNN regression — no existing system combines these at ₹35K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463040" y="2231136"/>
            <a:ext cx="5486400" cy="54864"/>
          </a:xfrm>
          <a:prstGeom prst="rect">
            <a:avLst/>
          </a:prstGeom>
          <a:solidFill>
            <a:srgbClr val="1A3050"/>
          </a:solidFill>
          <a:ln/>
        </p:spPr>
      </p:sp>
      <p:sp>
        <p:nvSpPr>
          <p:cNvPr id="11" name="Shape 9"/>
          <p:cNvSpPr/>
          <p:nvPr/>
        </p:nvSpPr>
        <p:spPr>
          <a:xfrm>
            <a:off x="1463040" y="2231136"/>
            <a:ext cx="5303520" cy="54864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12" name="Shape 10"/>
          <p:cNvSpPr/>
          <p:nvPr/>
        </p:nvSpPr>
        <p:spPr>
          <a:xfrm>
            <a:off x="320040" y="2414016"/>
            <a:ext cx="8503920" cy="749808"/>
          </a:xfrm>
          <a:prstGeom prst="rect">
            <a:avLst/>
          </a:prstGeom>
          <a:solidFill>
            <a:srgbClr val="112240"/>
          </a:solidFill>
          <a:ln w="10160">
            <a:solidFill>
              <a:srgbClr val="00C2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2414016"/>
            <a:ext cx="1005840" cy="74980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" y="2414016"/>
            <a:ext cx="1005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C2E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28/30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63040" y="24871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63040" y="2761488"/>
            <a:ext cx="7223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off-the-shelf components available in India — buildable in 3 weeks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1463040" y="3072384"/>
            <a:ext cx="5486400" cy="54864"/>
          </a:xfrm>
          <a:prstGeom prst="rect">
            <a:avLst/>
          </a:prstGeom>
          <a:solidFill>
            <a:srgbClr val="1A3050"/>
          </a:solidFill>
          <a:ln/>
        </p:spPr>
      </p:sp>
      <p:sp>
        <p:nvSpPr>
          <p:cNvPr id="18" name="Shape 16"/>
          <p:cNvSpPr/>
          <p:nvPr/>
        </p:nvSpPr>
        <p:spPr>
          <a:xfrm>
            <a:off x="1463040" y="3072384"/>
            <a:ext cx="5120640" cy="54864"/>
          </a:xfrm>
          <a:prstGeom prst="rect">
            <a:avLst/>
          </a:prstGeom>
          <a:solidFill>
            <a:srgbClr val="00C2E0"/>
          </a:solidFill>
          <a:ln/>
        </p:spPr>
      </p:sp>
      <p:sp>
        <p:nvSpPr>
          <p:cNvPr id="19" name="Shape 17"/>
          <p:cNvSpPr/>
          <p:nvPr/>
        </p:nvSpPr>
        <p:spPr>
          <a:xfrm>
            <a:off x="320040" y="3255264"/>
            <a:ext cx="8503920" cy="749808"/>
          </a:xfrm>
          <a:prstGeom prst="rect">
            <a:avLst/>
          </a:prstGeom>
          <a:solidFill>
            <a:srgbClr val="112240"/>
          </a:solidFill>
          <a:ln w="10160">
            <a:solidFill>
              <a:srgbClr val="00C85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" y="3255264"/>
            <a:ext cx="1005840" cy="74980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1" name="Text 19"/>
          <p:cNvSpPr/>
          <p:nvPr/>
        </p:nvSpPr>
        <p:spPr>
          <a:xfrm>
            <a:off x="320040" y="3255264"/>
            <a:ext cx="1005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C85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20/20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463040" y="332841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463040" y="3602736"/>
            <a:ext cx="7223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 any existing NHAI patrol vehicle — zero additional manpower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1463040" y="3913632"/>
            <a:ext cx="5486400" cy="54864"/>
          </a:xfrm>
          <a:prstGeom prst="rect">
            <a:avLst/>
          </a:prstGeom>
          <a:solidFill>
            <a:srgbClr val="1A3050"/>
          </a:solidFill>
          <a:ln/>
        </p:spPr>
      </p:sp>
      <p:sp>
        <p:nvSpPr>
          <p:cNvPr id="25" name="Shape 23"/>
          <p:cNvSpPr/>
          <p:nvPr/>
        </p:nvSpPr>
        <p:spPr>
          <a:xfrm>
            <a:off x="1463040" y="3913632"/>
            <a:ext cx="5486400" cy="54864"/>
          </a:xfrm>
          <a:prstGeom prst="rect">
            <a:avLst/>
          </a:prstGeom>
          <a:solidFill>
            <a:srgbClr val="00C853"/>
          </a:solidFill>
          <a:ln/>
        </p:spPr>
      </p:sp>
      <p:sp>
        <p:nvSpPr>
          <p:cNvPr id="26" name="Shape 24"/>
          <p:cNvSpPr/>
          <p:nvPr/>
        </p:nvSpPr>
        <p:spPr>
          <a:xfrm>
            <a:off x="320040" y="4096512"/>
            <a:ext cx="8503920" cy="749808"/>
          </a:xfrm>
          <a:prstGeom prst="rect">
            <a:avLst/>
          </a:prstGeom>
          <a:solidFill>
            <a:srgbClr val="112240"/>
          </a:solidFill>
          <a:ln w="10160">
            <a:solidFill>
              <a:srgbClr val="FFD6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" y="4096512"/>
            <a:ext cx="1005840" cy="74980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8" name="Text 26"/>
          <p:cNvSpPr/>
          <p:nvPr/>
        </p:nvSpPr>
        <p:spPr>
          <a:xfrm>
            <a:off x="320040" y="4096512"/>
            <a:ext cx="1005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D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19/20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463040" y="416966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463040" y="4443984"/>
            <a:ext cx="7223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dashboard, working AI model, phase roadmap, cost table all provided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1463040" y="4754880"/>
            <a:ext cx="5486400" cy="54864"/>
          </a:xfrm>
          <a:prstGeom prst="rect">
            <a:avLst/>
          </a:prstGeom>
          <a:solidFill>
            <a:srgbClr val="1A3050"/>
          </a:solidFill>
          <a:ln/>
        </p:spPr>
      </p:sp>
      <p:sp>
        <p:nvSpPr>
          <p:cNvPr id="32" name="Shape 30"/>
          <p:cNvSpPr/>
          <p:nvPr/>
        </p:nvSpPr>
        <p:spPr>
          <a:xfrm>
            <a:off x="1463040" y="4754880"/>
            <a:ext cx="5212080" cy="54864"/>
          </a:xfrm>
          <a:prstGeom prst="rect">
            <a:avLst/>
          </a:prstGeom>
          <a:solidFill>
            <a:srgbClr val="FFD600"/>
          </a:solidFill>
          <a:ln/>
        </p:spPr>
      </p:sp>
      <p:sp>
        <p:nvSpPr>
          <p:cNvPr id="33" name="Shape 31"/>
          <p:cNvSpPr/>
          <p:nvPr/>
        </p:nvSpPr>
        <p:spPr>
          <a:xfrm>
            <a:off x="320040" y="4828032"/>
            <a:ext cx="8503920" cy="274320"/>
          </a:xfrm>
          <a:prstGeom prst="rect">
            <a:avLst/>
          </a:prstGeom>
          <a:solidFill>
            <a:srgbClr val="1A305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0040" y="4828032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B00"/>
                </a:solidFill>
              </a:rPr>
              <a:t>PROJECTED TOTAL SCORE:  96 / 100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22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3774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F6B00"/>
                </a:solidFill>
              </a:rPr>
              <a:t>THE VERDICT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0F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RetroScan AI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0C2E0"/>
                </a:solidFill>
              </a:rPr>
              <a:t>Real-time · AI-powered · Highway-safe · ₹35,000 · IRC Compliant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2542032"/>
            <a:ext cx="2697480" cy="2286000"/>
          </a:xfrm>
          <a:prstGeom prst="rect">
            <a:avLst/>
          </a:prstGeom>
          <a:solidFill>
            <a:srgbClr val="0A1628"/>
          </a:solidFill>
          <a:ln w="19050">
            <a:solidFill>
              <a:srgbClr val="FF6B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2697480"/>
            <a:ext cx="502920" cy="502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29768" y="3291840"/>
            <a:ext cx="2478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Innovation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29768" y="3703320"/>
            <a:ext cx="24780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Ambient-subtraction + CNN regression — novel at this price point. No competitor does this under ₹50 lakh.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172968" y="2542032"/>
            <a:ext cx="2697480" cy="2286000"/>
          </a:xfrm>
          <a:prstGeom prst="rect">
            <a:avLst/>
          </a:prstGeom>
          <a:solidFill>
            <a:srgbClr val="0A1628"/>
          </a:solidFill>
          <a:ln w="19050">
            <a:solidFill>
              <a:srgbClr val="00C85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0248" y="2697480"/>
            <a:ext cx="502920" cy="5029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282696" y="3291840"/>
            <a:ext cx="2478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Impact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3282696" y="3703320"/>
            <a:ext cx="24780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Passively monitors India's entire 1,46,000 km network using patrol vehicles already on the road every day.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6025896" y="2542032"/>
            <a:ext cx="2697480" cy="2286000"/>
          </a:xfrm>
          <a:prstGeom prst="rect">
            <a:avLst/>
          </a:prstGeom>
          <a:solidFill>
            <a:srgbClr val="0A1628"/>
          </a:solidFill>
          <a:ln w="19050">
            <a:solidFill>
              <a:srgbClr val="FFD6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3176" y="2697480"/>
            <a:ext cx="502920" cy="5029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135624" y="3291840"/>
            <a:ext cx="2478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Unbeatable Economics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135624" y="3703320"/>
            <a:ext cx="24780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97% cost reduction. ₹200 Cr+ annual savings at full scale. Zero additional deployment cost.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2A4"/>
                </a:solidFill>
              </a:rPr>
              <a:t>Thank You  ·  RetroScan AI Team  ·  NHAI Hackathon 2026</a:t>
            </a:r>
            <a:endParaRPr lang="en-US" sz="800" dirty="0"/>
          </a:p>
        </p:txBody>
      </p:sp>
      <p:sp>
        <p:nvSpPr>
          <p:cNvPr id="20" name="Shape 1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21" name="Text 1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2A4"/>
                </a:solidFill>
              </a:rPr>
              <a:t>Thank You  ·  RetroScan AI Team  ·  NHAI Hackathon 2026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RetroScan AI — NHAI Hackathon</dc:title>
  <dc:subject>PptxGenJS Presentation</dc:subject>
  <dc:creator>PptxGenJS</dc:creator>
  <cp:lastModifiedBy>PptxGenJS</cp:lastModifiedBy>
  <cp:revision>1</cp:revision>
  <dcterms:created xsi:type="dcterms:W3CDTF">2026-04-23T07:46:01Z</dcterms:created>
  <dcterms:modified xsi:type="dcterms:W3CDTF">2026-04-23T07:46:01Z</dcterms:modified>
</cp:coreProperties>
</file>